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5792" y="1360291"/>
            <a:ext cx="9613263" cy="2894717"/>
          </a:xfrm>
        </p:spPr>
        <p:txBody>
          <a:bodyPr>
            <a:noAutofit/>
          </a:bodyPr>
          <a:lstStyle/>
          <a:p>
            <a:r>
              <a:rPr lang="en-US" sz="4400" dirty="0" smtClean="0"/>
              <a:t>Machine-Learning project to Forecast the Probability of Successfully Collecting </a:t>
            </a:r>
            <a:r>
              <a:rPr lang="en-US" sz="4400" dirty="0"/>
              <a:t>Debts by Analyzing </a:t>
            </a:r>
            <a:r>
              <a:rPr lang="en-US" sz="4400" dirty="0" smtClean="0"/>
              <a:t>Statute-Barred Status </a:t>
            </a:r>
            <a:endParaRPr lang="en-I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1410" y="4374219"/>
            <a:ext cx="6987645" cy="1388534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dirty="0" smtClean="0"/>
              <a:t>Presented by:</a:t>
            </a:r>
          </a:p>
          <a:p>
            <a:pPr>
              <a:spcAft>
                <a:spcPts val="0"/>
              </a:spcAft>
            </a:pPr>
            <a:r>
              <a:rPr lang="en-US" dirty="0" smtClean="0"/>
              <a:t>Saikat Bhattacharjee</a:t>
            </a:r>
            <a:endParaRPr lang="en-IN" dirty="0"/>
          </a:p>
        </p:txBody>
      </p:sp>
      <p:pic>
        <p:nvPicPr>
          <p:cNvPr id="1026" name="Picture 2" descr="LearnBay Improves Team Productivity by 120%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019" y="180149"/>
            <a:ext cx="1905984" cy="36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865045" y="6346884"/>
            <a:ext cx="344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Placement Project [April - 2024]</a:t>
            </a:r>
            <a:endParaRPr lang="en-IN" dirty="0"/>
          </a:p>
        </p:txBody>
      </p:sp>
      <p:pic>
        <p:nvPicPr>
          <p:cNvPr id="1028" name="Picture 4" descr="Info Icon Png #226352 - Free Icons Libra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708" y="6379938"/>
            <a:ext cx="319913" cy="31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05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197" y="421921"/>
            <a:ext cx="9926900" cy="938407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673" y="1360328"/>
            <a:ext cx="10189948" cy="4878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/>
              <a:t>In the realm of debt collection, the ability to discern which accounts are </a:t>
            </a:r>
            <a:r>
              <a:rPr lang="en-US" sz="2100" dirty="0" smtClean="0"/>
              <a:t>statute-barred thus </a:t>
            </a:r>
            <a:r>
              <a:rPr lang="en-US" sz="2100" dirty="0"/>
              <a:t>potentially </a:t>
            </a:r>
            <a:r>
              <a:rPr lang="en-US" sz="2100" dirty="0" smtClean="0"/>
              <a:t>unrecoverable holds </a:t>
            </a:r>
            <a:r>
              <a:rPr lang="en-US" sz="2100" dirty="0"/>
              <a:t>immense significance. This project endeavors to develop a sophisticated machine-learning model aimed at accurately predicting the probability of successfully collecting debts by meticulously examining the statute-barred status of each account.</a:t>
            </a:r>
          </a:p>
          <a:p>
            <a:pPr marL="0" indent="0">
              <a:buNone/>
            </a:pPr>
            <a:r>
              <a:rPr lang="en-US" sz="2100" dirty="0"/>
              <a:t>Given a dataset encompassing a multitude of attributes including original creditor information, account IDs, current balances, purchase dates, and a wealth of other pertinent features, the objective is to construct a predictive model that excels in identifying accounts where the statute barred status may influence the likelihood of debt retrieval.</a:t>
            </a:r>
          </a:p>
          <a:p>
            <a:pPr marL="0" indent="0">
              <a:buNone/>
            </a:pPr>
            <a:r>
              <a:rPr lang="en-US" sz="2100" dirty="0"/>
              <a:t>The </a:t>
            </a:r>
            <a:r>
              <a:rPr lang="en-US" sz="2100" dirty="0" smtClean="0"/>
              <a:t>main focus of </a:t>
            </a:r>
            <a:r>
              <a:rPr lang="en-US" sz="2100" dirty="0"/>
              <a:t>this endeavor centers on the </a:t>
            </a:r>
            <a:r>
              <a:rPr lang="en-US" sz="2100" dirty="0" smtClean="0"/>
              <a:t>‘IsStatBarred’ </a:t>
            </a:r>
            <a:r>
              <a:rPr lang="en-US" sz="2100" dirty="0"/>
              <a:t>field, which serves as the pivotal target variable for classification. 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70975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Defining 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endeavors to develop a sophisticated machine-learning model aimed at accurately predicting the probability of successfully collecting debts by analyzing statute-barred </a:t>
            </a:r>
            <a:r>
              <a:rPr lang="en-US" dirty="0" smtClean="0"/>
              <a:t>status.</a:t>
            </a:r>
          </a:p>
          <a:p>
            <a:r>
              <a:rPr lang="en-US" dirty="0"/>
              <a:t>Identify </a:t>
            </a:r>
            <a:r>
              <a:rPr lang="en-US" dirty="0" smtClean="0"/>
              <a:t>the key </a:t>
            </a:r>
            <a:r>
              <a:rPr lang="en-US" dirty="0"/>
              <a:t>drivers </a:t>
            </a:r>
            <a:r>
              <a:rPr lang="en-US" dirty="0" smtClean="0"/>
              <a:t>of debts </a:t>
            </a:r>
            <a:r>
              <a:rPr lang="en-US" dirty="0"/>
              <a:t>collection possibility </a:t>
            </a:r>
            <a:r>
              <a:rPr lang="en-US" dirty="0" smtClean="0"/>
              <a:t>and develop </a:t>
            </a:r>
            <a:r>
              <a:rPr lang="en-US" dirty="0"/>
              <a:t>predictive models to anticipate user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307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this Important?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554264"/>
            <a:ext cx="10018713" cy="3124201"/>
          </a:xfrm>
        </p:spPr>
        <p:txBody>
          <a:bodyPr/>
          <a:lstStyle/>
          <a:p>
            <a:r>
              <a:rPr lang="en-US" dirty="0"/>
              <a:t>Statute-barred accounts can be a challenge for debt collectors, as they may be unrecoverable due to legal time limits.</a:t>
            </a:r>
          </a:p>
          <a:p>
            <a:r>
              <a:rPr lang="en-US" dirty="0"/>
              <a:t>In the following slides, </a:t>
            </a:r>
            <a:r>
              <a:rPr lang="en-US" dirty="0" smtClean="0"/>
              <a:t>I </a:t>
            </a:r>
            <a:r>
              <a:rPr lang="en-US" dirty="0"/>
              <a:t>will take you through </a:t>
            </a:r>
            <a:r>
              <a:rPr lang="en-US" dirty="0" smtClean="0"/>
              <a:t>the </a:t>
            </a:r>
            <a:r>
              <a:rPr lang="en-US" dirty="0"/>
              <a:t>project approach, methodology, data analysis plan, expected outcomes, and more.</a:t>
            </a:r>
          </a:p>
          <a:p>
            <a:r>
              <a:rPr lang="en-US" dirty="0"/>
              <a:t>We </a:t>
            </a:r>
            <a:r>
              <a:rPr lang="en-US" dirty="0" smtClean="0"/>
              <a:t>will explore </a:t>
            </a:r>
            <a:r>
              <a:rPr lang="en-US" dirty="0"/>
              <a:t>the intricate interplay of </a:t>
            </a:r>
            <a:r>
              <a:rPr lang="en-US" dirty="0" smtClean="0"/>
              <a:t>data to figure out user </a:t>
            </a:r>
            <a:r>
              <a:rPr lang="en-US" dirty="0"/>
              <a:t>behavior in the realm of </a:t>
            </a:r>
            <a:r>
              <a:rPr lang="en-US" dirty="0" smtClean="0"/>
              <a:t>debt collection.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80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381" y="0"/>
            <a:ext cx="9963977" cy="1097279"/>
          </a:xfrm>
        </p:spPr>
        <p:txBody>
          <a:bodyPr/>
          <a:lstStyle/>
          <a:p>
            <a:r>
              <a:rPr lang="en-IN" dirty="0"/>
              <a:t>Data </a:t>
            </a:r>
            <a:r>
              <a:rPr lang="en-IN" dirty="0" smtClean="0"/>
              <a:t>Description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469816"/>
              </p:ext>
            </p:extLst>
          </p:nvPr>
        </p:nvGraphicFramePr>
        <p:xfrm>
          <a:off x="2538673" y="1244251"/>
          <a:ext cx="9366685" cy="517042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660801">
                  <a:extLst>
                    <a:ext uri="{9D8B030D-6E8A-4147-A177-3AD203B41FA5}">
                      <a16:colId xmlns:a16="http://schemas.microsoft.com/office/drawing/2014/main" val="3157366311"/>
                    </a:ext>
                  </a:extLst>
                </a:gridCol>
                <a:gridCol w="3579871">
                  <a:extLst>
                    <a:ext uri="{9D8B030D-6E8A-4147-A177-3AD203B41FA5}">
                      <a16:colId xmlns:a16="http://schemas.microsoft.com/office/drawing/2014/main" val="2706114088"/>
                    </a:ext>
                  </a:extLst>
                </a:gridCol>
                <a:gridCol w="5126013">
                  <a:extLst>
                    <a:ext uri="{9D8B030D-6E8A-4147-A177-3AD203B41FA5}">
                      <a16:colId xmlns:a16="http://schemas.microsoft.com/office/drawing/2014/main" val="4226018987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COLUMN_NAME</a:t>
                      </a:r>
                      <a:endParaRPr lang="en-IN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IN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835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EntityID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 identifier for each entry.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0946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OriginalCreditor[Redacted]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 original creditor,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with sensitive information redacted.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2964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AccountID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 identifier for the account.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28469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Current Balance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current balance of the account.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487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DebtLoadPrincipal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principal amount of the debt load.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5956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BalanceAtDebtLoad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balance at the time of debt load.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2144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PurchasePrice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price at which the debt was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purchased.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5344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ProductOrDebtType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of product or debt.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018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CollectionStatus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Status of the debt collection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3933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CloseDate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date when the account was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closed.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0135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ClosureReason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Reason for closing the account.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91557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InBankruptcy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Indicates if the account is involved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in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bankruptcy.</a:t>
                      </a:r>
                      <a:endParaRPr lang="en-IN" dirty="0" smtClean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18346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63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557403"/>
              </p:ext>
            </p:extLst>
          </p:nvPr>
        </p:nvGraphicFramePr>
        <p:xfrm>
          <a:off x="2970784" y="475826"/>
          <a:ext cx="8127999" cy="596561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2704">
                  <a:extLst>
                    <a:ext uri="{9D8B030D-6E8A-4147-A177-3AD203B41FA5}">
                      <a16:colId xmlns:a16="http://schemas.microsoft.com/office/drawing/2014/main" val="2379304073"/>
                    </a:ext>
                  </a:extLst>
                </a:gridCol>
                <a:gridCol w="3316224">
                  <a:extLst>
                    <a:ext uri="{9D8B030D-6E8A-4147-A177-3AD203B41FA5}">
                      <a16:colId xmlns:a16="http://schemas.microsoft.com/office/drawing/2014/main" val="2826368870"/>
                    </a:ext>
                  </a:extLst>
                </a:gridCol>
                <a:gridCol w="4259071">
                  <a:extLst>
                    <a:ext uri="{9D8B030D-6E8A-4147-A177-3AD203B41FA5}">
                      <a16:colId xmlns:a16="http://schemas.microsoft.com/office/drawing/2014/main" val="2684409786"/>
                    </a:ext>
                  </a:extLst>
                </a:gridCol>
              </a:tblGrid>
              <a:tr h="43857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COLUMN_NAME</a:t>
                      </a:r>
                      <a:endParaRPr lang="en-IN" dirty="0" smtClean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DESCRIPTION</a:t>
                      </a:r>
                      <a:endParaRPr lang="en-IN" dirty="0" smtClean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4130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AccountInsolvencyType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of insolvency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related to the account.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17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CustomerInsolvencyType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of insolvency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related to the customer.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62841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IsLegal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Indicates if legal action has been taken.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833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InterestRate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Interest rate associated with the debt.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61612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LastPaymentAmount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Amount of the last payment made.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724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LastPaymentMethod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Method used for the last payment.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33292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NumLiableParties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liable parties associated with</a:t>
                      </a:r>
                    </a:p>
                    <a:p>
                      <a:r>
                        <a:rPr lang="en-US" dirty="0" smtClean="0"/>
                        <a:t>the account.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6959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CustomerAge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Age of the customer.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5893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NumPhones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phone contacts associated with the customer.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4438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NumEmails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email contacts associated with the customer.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73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NumAddresses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addresses associated with the</a:t>
                      </a:r>
                    </a:p>
                    <a:p>
                      <a:r>
                        <a:rPr lang="en-US" dirty="0" smtClean="0"/>
                        <a:t>customer.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22345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24.</a:t>
                      </a:r>
                      <a:endParaRPr lang="en-IN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IsStatBarred</a:t>
                      </a:r>
                      <a:endParaRPr lang="en-IN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Indicates if the debt is statute-barred.</a:t>
                      </a:r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9123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58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2263" y="0"/>
            <a:ext cx="10018713" cy="1752599"/>
          </a:xfrm>
        </p:spPr>
        <p:txBody>
          <a:bodyPr/>
          <a:lstStyle/>
          <a:p>
            <a:r>
              <a:rPr lang="en-US" dirty="0" smtClean="0"/>
              <a:t>Data Preparation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207" y="1895854"/>
            <a:ext cx="9323769" cy="443179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100" b="1" dirty="0" smtClean="0"/>
              <a:t>Data </a:t>
            </a:r>
            <a:r>
              <a:rPr lang="en-US" sz="5100" b="1" dirty="0"/>
              <a:t>Structure</a:t>
            </a:r>
          </a:p>
          <a:p>
            <a:pPr marL="0" indent="0">
              <a:buNone/>
            </a:pPr>
            <a:r>
              <a:rPr lang="en-US" sz="4200" dirty="0" smtClean="0"/>
              <a:t>Rows: </a:t>
            </a:r>
            <a:r>
              <a:rPr lang="en-US" sz="4200" dirty="0" smtClean="0">
                <a:latin typeface="Calibri" panose="020F0502020204030204" pitchFamily="34" charset="0"/>
                <a:cs typeface="Calibri" panose="020F0502020204030204" pitchFamily="34" charset="0"/>
              </a:rPr>
              <a:t>406424</a:t>
            </a:r>
            <a:r>
              <a:rPr lang="en-US" sz="4200" dirty="0" smtClean="0"/>
              <a:t> , Columns: </a:t>
            </a:r>
            <a:r>
              <a:rPr lang="en-US" sz="4200" dirty="0" smtClean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4200" dirty="0" smtClean="0"/>
          </a:p>
          <a:p>
            <a:pPr marL="0" indent="0">
              <a:buNone/>
            </a:pPr>
            <a:endParaRPr lang="en-US" sz="4200" dirty="0"/>
          </a:p>
          <a:p>
            <a:pPr marL="0" indent="0">
              <a:buNone/>
            </a:pPr>
            <a:r>
              <a:rPr lang="en-US" sz="5100" b="1" dirty="0" smtClean="0"/>
              <a:t>Data Cleaning</a:t>
            </a:r>
          </a:p>
          <a:p>
            <a:r>
              <a:rPr lang="en-US" sz="4200" dirty="0" smtClean="0"/>
              <a:t>Getting </a:t>
            </a:r>
            <a:r>
              <a:rPr lang="en-US" sz="4200" dirty="0"/>
              <a:t>the data </a:t>
            </a:r>
            <a:r>
              <a:rPr lang="en-US" sz="4200" dirty="0" smtClean="0"/>
              <a:t>type and count information.</a:t>
            </a:r>
          </a:p>
          <a:p>
            <a:r>
              <a:rPr lang="en-US" sz="4200" dirty="0"/>
              <a:t>Dropping unwanted </a:t>
            </a:r>
            <a:r>
              <a:rPr lang="en-US" sz="4200" dirty="0" smtClean="0"/>
              <a:t>columns.</a:t>
            </a:r>
          </a:p>
          <a:p>
            <a:r>
              <a:rPr lang="en-US" sz="4200" dirty="0"/>
              <a:t>Handling missing </a:t>
            </a:r>
            <a:r>
              <a:rPr lang="en-US" sz="4200" dirty="0" smtClean="0"/>
              <a:t>values.</a:t>
            </a:r>
            <a:endParaRPr lang="en-US" sz="4200" dirty="0"/>
          </a:p>
          <a:p>
            <a:r>
              <a:rPr lang="en-US" sz="4200" dirty="0"/>
              <a:t>Removing duplicate </a:t>
            </a:r>
            <a:r>
              <a:rPr lang="en-US" sz="4200" dirty="0" smtClean="0"/>
              <a:t>rows.</a:t>
            </a:r>
          </a:p>
          <a:p>
            <a:r>
              <a:rPr lang="en-US" sz="4200" dirty="0" smtClean="0"/>
              <a:t>Ensuring </a:t>
            </a:r>
            <a:r>
              <a:rPr lang="en-US" sz="4200" dirty="0"/>
              <a:t>that data is in a usable format for </a:t>
            </a:r>
            <a:r>
              <a:rPr lang="en-US" sz="4200" dirty="0" smtClean="0"/>
              <a:t>analysis.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81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3159" y="292608"/>
            <a:ext cx="10018713" cy="6217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EDA and Preprocessing</a:t>
            </a:r>
            <a:endParaRPr lang="en-US" b="1" dirty="0"/>
          </a:p>
          <a:p>
            <a:r>
              <a:rPr lang="en-US" sz="2000" dirty="0" smtClean="0"/>
              <a:t>Checking for outliers using boxplot and applying outlier treatment.</a:t>
            </a:r>
            <a:endParaRPr lang="en-US" sz="2000" dirty="0"/>
          </a:p>
          <a:p>
            <a:r>
              <a:rPr lang="en-US" sz="2000" dirty="0" smtClean="0"/>
              <a:t>Checking the relation of the data with the target column.</a:t>
            </a:r>
            <a:endParaRPr lang="en-US" sz="2000" dirty="0"/>
          </a:p>
          <a:p>
            <a:r>
              <a:rPr lang="en-US" sz="2000" dirty="0" smtClean="0"/>
              <a:t>Converting </a:t>
            </a:r>
            <a:r>
              <a:rPr lang="en-US" sz="2000" dirty="0"/>
              <a:t>the categorical variables into </a:t>
            </a:r>
            <a:r>
              <a:rPr lang="en-US" sz="2000" dirty="0" smtClean="0"/>
              <a:t>numerical.</a:t>
            </a:r>
            <a:endParaRPr lang="en-US" sz="2000" dirty="0"/>
          </a:p>
          <a:p>
            <a:r>
              <a:rPr lang="en-US" sz="2000" dirty="0" smtClean="0"/>
              <a:t>Visualize Feature Correlation </a:t>
            </a:r>
            <a:r>
              <a:rPr lang="en-US" sz="2000" dirty="0"/>
              <a:t>and remove </a:t>
            </a:r>
            <a:r>
              <a:rPr lang="en-US" sz="2000" dirty="0" smtClean="0"/>
              <a:t>Multicollinearity.</a:t>
            </a:r>
          </a:p>
          <a:p>
            <a:r>
              <a:rPr lang="en-US" sz="2000" dirty="0" smtClean="0"/>
              <a:t>Applying feature Scaling.</a:t>
            </a:r>
          </a:p>
          <a:p>
            <a:r>
              <a:rPr lang="en-US" sz="2000" dirty="0"/>
              <a:t>Addressing Class Imbalance with </a:t>
            </a:r>
            <a:r>
              <a:rPr lang="en-US" sz="2000" dirty="0" smtClean="0"/>
              <a:t>SMOTE.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 Splitting</a:t>
            </a:r>
          </a:p>
          <a:p>
            <a:pPr marL="0" indent="0">
              <a:buNone/>
            </a:pPr>
            <a:r>
              <a:rPr lang="en-US" sz="2000" dirty="0" smtClean="0"/>
              <a:t>Splitting </a:t>
            </a:r>
            <a:r>
              <a:rPr lang="en-US" sz="2000" dirty="0"/>
              <a:t>the data into training and testing set</a:t>
            </a:r>
          </a:p>
          <a:p>
            <a:pPr marL="0" indent="0">
              <a:buNone/>
            </a:pPr>
            <a:r>
              <a:rPr lang="en-US" sz="2000" dirty="0" smtClean="0"/>
              <a:t>Train set </a:t>
            </a:r>
            <a:r>
              <a:rPr lang="en-US" sz="2000" dirty="0"/>
              <a:t>as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75%</a:t>
            </a:r>
            <a:r>
              <a:rPr lang="en-US" sz="2000" dirty="0" smtClean="0"/>
              <a:t> </a:t>
            </a:r>
            <a:r>
              <a:rPr lang="en-US" sz="2000" dirty="0"/>
              <a:t>and </a:t>
            </a:r>
            <a:r>
              <a:rPr lang="en-US" sz="2000" dirty="0" smtClean="0"/>
              <a:t>Test </a:t>
            </a:r>
            <a:r>
              <a:rPr lang="en-US" sz="2000" dirty="0"/>
              <a:t>set as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25%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/>
              <a:t>x_train=(408814, 13</a:t>
            </a:r>
            <a:r>
              <a:rPr lang="en-US" sz="2000" dirty="0" smtClean="0"/>
              <a:t>)        </a:t>
            </a:r>
            <a:r>
              <a:rPr lang="en-US" sz="2000" dirty="0"/>
              <a:t>x_test= (136272, 13</a:t>
            </a:r>
            <a:r>
              <a:rPr lang="en-US" sz="2000" dirty="0" smtClean="0"/>
              <a:t>)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y_train</a:t>
            </a:r>
            <a:r>
              <a:rPr lang="en-US" sz="2000" dirty="0"/>
              <a:t>=(408814</a:t>
            </a:r>
            <a:r>
              <a:rPr lang="en-US" sz="2000" dirty="0" smtClean="0"/>
              <a:t>,)             y_test</a:t>
            </a:r>
            <a:r>
              <a:rPr lang="en-US" sz="2000" dirty="0"/>
              <a:t>=(136272,)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047989" y="5649238"/>
            <a:ext cx="0" cy="63882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58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343" y="0"/>
            <a:ext cx="10018713" cy="1752599"/>
          </a:xfrm>
        </p:spPr>
        <p:txBody>
          <a:bodyPr/>
          <a:lstStyle/>
          <a:p>
            <a:r>
              <a:rPr lang="en-US" dirty="0" smtClean="0"/>
              <a:t>Model Building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1990" y="1508759"/>
            <a:ext cx="10018713" cy="48188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/>
              <a:t>Model Training</a:t>
            </a:r>
          </a:p>
          <a:p>
            <a:r>
              <a:rPr lang="en-US" dirty="0"/>
              <a:t>Multiple models were trained, including Logistic </a:t>
            </a:r>
            <a:r>
              <a:rPr lang="en-US" dirty="0" smtClean="0"/>
              <a:t>Regression</a:t>
            </a:r>
            <a:r>
              <a:rPr lang="en-US" dirty="0"/>
              <a:t>, Gaussian Naive Bayes, KNN, Decision Tree and Random Forest to determine the best </a:t>
            </a:r>
            <a:r>
              <a:rPr lang="en-US" dirty="0" smtClean="0"/>
              <a:t>possible option. </a:t>
            </a:r>
            <a:r>
              <a:rPr lang="en-US" dirty="0"/>
              <a:t>The results showed that Random Forest had the highest accuracy at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97%</a:t>
            </a:r>
            <a:r>
              <a:rPr lang="en-US" dirty="0"/>
              <a:t>, while Logistic </a:t>
            </a:r>
            <a:r>
              <a:rPr lang="en-US" dirty="0" smtClean="0"/>
              <a:t>Regression, </a:t>
            </a:r>
            <a:r>
              <a:rPr lang="en-US" dirty="0"/>
              <a:t>Gaussian Naive Bayes, </a:t>
            </a:r>
            <a:r>
              <a:rPr lang="en-US" dirty="0" smtClean="0"/>
              <a:t>KNN and Decision </a:t>
            </a:r>
            <a:r>
              <a:rPr lang="en-US" dirty="0"/>
              <a:t>Tree</a:t>
            </a:r>
            <a:r>
              <a:rPr lang="en-US" dirty="0" smtClean="0"/>
              <a:t>  </a:t>
            </a:r>
            <a:r>
              <a:rPr lang="en-US" dirty="0"/>
              <a:t>had accuracies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82%</a:t>
            </a:r>
            <a:r>
              <a:rPr lang="en-US" dirty="0" smtClean="0"/>
              <a:t>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75%</a:t>
            </a:r>
            <a:r>
              <a:rPr lang="en-US" dirty="0" smtClean="0"/>
              <a:t>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95%</a:t>
            </a:r>
            <a:r>
              <a:rPr lang="en-US" dirty="0" smtClean="0"/>
              <a:t> and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96%</a:t>
            </a:r>
            <a:r>
              <a:rPr lang="en-US" dirty="0" smtClean="0"/>
              <a:t>  respectively</a:t>
            </a:r>
            <a:r>
              <a:rPr lang="en-US" dirty="0"/>
              <a:t>. This approach allowed for a more informed decision when selecting a model.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b="1" dirty="0" smtClean="0"/>
              <a:t>Model Selection</a:t>
            </a:r>
            <a:endParaRPr lang="en-US" sz="2800" b="1" dirty="0"/>
          </a:p>
          <a:p>
            <a:r>
              <a:rPr lang="en-US" dirty="0"/>
              <a:t>In terms of accuracy, Random Forest </a:t>
            </a:r>
            <a:r>
              <a:rPr lang="en-US" dirty="0" smtClean="0"/>
              <a:t>outperforms the rest of the algorithms achieving </a:t>
            </a:r>
            <a:r>
              <a:rPr lang="en-US" dirty="0"/>
              <a:t>the highest accuracy score. If accuracy is </a:t>
            </a:r>
            <a:r>
              <a:rPr lang="en-US" dirty="0" smtClean="0"/>
              <a:t>considered as the </a:t>
            </a:r>
            <a:r>
              <a:rPr lang="en-US" dirty="0"/>
              <a:t>primary metric, Random Forest is the top choice.</a:t>
            </a:r>
          </a:p>
          <a:p>
            <a:r>
              <a:rPr lang="en-US" dirty="0"/>
              <a:t>Random Forest seems to be the best choice based on the </a:t>
            </a:r>
            <a:r>
              <a:rPr lang="en-US" dirty="0" smtClean="0"/>
              <a:t>results. </a:t>
            </a:r>
            <a:endParaRPr lang="en-US" dirty="0"/>
          </a:p>
          <a:p>
            <a:r>
              <a:rPr lang="en-US" dirty="0"/>
              <a:t>Random Forest can provide feature importance scores, which can help with feature selection and data analysis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45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7543" y="487972"/>
            <a:ext cx="10018713" cy="58000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 smtClean="0"/>
              <a:t>Model </a:t>
            </a:r>
            <a:r>
              <a:rPr lang="en-US" sz="2600" b="1" dirty="0"/>
              <a:t>Evaluation</a:t>
            </a:r>
          </a:p>
          <a:p>
            <a:r>
              <a:rPr lang="en-US" sz="2200" dirty="0" smtClean="0"/>
              <a:t>Considering the threshold accuracy for overfitting as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95%</a:t>
            </a:r>
            <a:r>
              <a:rPr lang="en-US" sz="2200" dirty="0" smtClean="0"/>
              <a:t>, our Random Forest model is slightly overfit which might not be in our best interest. Therefore, applying some Hyper parameter tuning to adjust the accuracy within the threshold range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600" b="1" dirty="0" smtClean="0"/>
              <a:t>Final Results</a:t>
            </a:r>
            <a:endParaRPr lang="en-US" sz="2600" b="1" dirty="0"/>
          </a:p>
          <a:p>
            <a:pPr marL="0" indent="0">
              <a:buNone/>
            </a:pPr>
            <a:r>
              <a:rPr lang="en-US" sz="2200" dirty="0" smtClean="0"/>
              <a:t>The </a:t>
            </a:r>
            <a:r>
              <a:rPr lang="en-US" sz="2200" dirty="0"/>
              <a:t>key performance metrics achieved using the Random Forest model:</a:t>
            </a:r>
          </a:p>
          <a:p>
            <a:r>
              <a:rPr lang="en-US" sz="2200" dirty="0"/>
              <a:t>Accuracy: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93%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/>
              <a:t>Precision: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96%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/>
              <a:t>Recall: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91%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/>
              <a:t>F1 Score</a:t>
            </a:r>
            <a:r>
              <a:rPr lang="en-US" sz="2200" dirty="0" smtClean="0"/>
              <a:t>: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93%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/>
              <a:t>AUC-ROC: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99%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 smtClean="0"/>
              <a:t>Emphasizing </a:t>
            </a:r>
            <a:r>
              <a:rPr lang="en-US" sz="2200" dirty="0"/>
              <a:t>that these metrics collectively indicate that our model is performing </a:t>
            </a:r>
            <a:r>
              <a:rPr lang="en-US" sz="2200" dirty="0" smtClean="0"/>
              <a:t>well and </a:t>
            </a:r>
            <a:r>
              <a:rPr lang="en-US" sz="2200" dirty="0"/>
              <a:t>can be considered for </a:t>
            </a:r>
            <a:r>
              <a:rPr lang="en-US" sz="2200" dirty="0" smtClean="0"/>
              <a:t>deployment.</a:t>
            </a:r>
            <a:endParaRPr lang="en-US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70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00456"/>
            <a:ext cx="10018713" cy="1752599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494" y="2484119"/>
            <a:ext cx="10018713" cy="312420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In </a:t>
            </a:r>
            <a:r>
              <a:rPr lang="en-US" dirty="0" smtClean="0"/>
              <a:t>summary, </a:t>
            </a:r>
            <a:r>
              <a:rPr lang="en-US" dirty="0"/>
              <a:t>our project successfully developed a predictive model for Collecting Debts by Analyzing Statute-Barred Status . </a:t>
            </a:r>
            <a:r>
              <a:rPr lang="en-US" dirty="0" smtClean="0"/>
              <a:t>It involved thorough analysis </a:t>
            </a:r>
            <a:r>
              <a:rPr lang="en-US" dirty="0"/>
              <a:t>to understand </a:t>
            </a:r>
            <a:r>
              <a:rPr lang="en-US" dirty="0" smtClean="0"/>
              <a:t>the dataset characteristics, utilizing the most advanced algorithms to calculate and assess model performance. These </a:t>
            </a:r>
            <a:r>
              <a:rPr lang="en-US" dirty="0"/>
              <a:t>results hold valuable implications for optimizing debt collection </a:t>
            </a:r>
            <a:r>
              <a:rPr lang="en-US" dirty="0" smtClean="0"/>
              <a:t>strategies, enhancing </a:t>
            </a:r>
            <a:r>
              <a:rPr lang="en-US" dirty="0"/>
              <a:t>creditor collection </a:t>
            </a:r>
            <a:r>
              <a:rPr lang="en-US" dirty="0" smtClean="0"/>
              <a:t>engagement and financial sector risk management.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017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1210</TotalTime>
  <Words>981</Words>
  <Application>Microsoft Office PowerPoint</Application>
  <PresentationFormat>Widescreen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Parallax</vt:lpstr>
      <vt:lpstr>Machine-Learning project to Forecast the Probability of Successfully Collecting Debts by Analyzing Statute-Barred Status </vt:lpstr>
      <vt:lpstr>Problem Statement</vt:lpstr>
      <vt:lpstr>Defining Project Goals</vt:lpstr>
      <vt:lpstr>Why is this Important?</vt:lpstr>
      <vt:lpstr>Data Description</vt:lpstr>
      <vt:lpstr>PowerPoint Presentation</vt:lpstr>
      <vt:lpstr>Data Preparation</vt:lpstr>
      <vt:lpstr>PowerPoint Presentation</vt:lpstr>
      <vt:lpstr>Model Building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project to Forecast the Probability of Successfully Collecting Debts</dc:title>
  <dc:creator>Saikat Bhattacharjee</dc:creator>
  <cp:lastModifiedBy>Saikat Bhattacharjee</cp:lastModifiedBy>
  <cp:revision>42</cp:revision>
  <dcterms:created xsi:type="dcterms:W3CDTF">2024-05-11T10:31:54Z</dcterms:created>
  <dcterms:modified xsi:type="dcterms:W3CDTF">2024-06-09T20:25:55Z</dcterms:modified>
</cp:coreProperties>
</file>